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0"/>
            <a:ext cx="112772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009682"/>
                </a:solidFill>
              </a:defRPr>
            </a:pPr>
            <a:r>
              <a:t>From Slow, Risky Releases to</a:t>
            </a:r>
            <a:br/>
            <a:r>
              <a:t>Confident Daily Deployments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38328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>
                <a:solidFill>
                  <a:srgbClr val="646464"/>
                </a:solidFill>
              </a:defRPr>
            </a:pPr>
            <a:r>
              <a:t>How High-Growth Engineering Teams Use Harness to Ship Faster Without Breaking Production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29768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505050"/>
                </a:solidFill>
              </a:defRPr>
            </a:pPr>
            <a:r>
              <a:t>Enterprise CI/CD on Kubernetes — Built for Scale, Security, and Speed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9682"/>
                </a:solidFill>
              </a:defRPr>
            </a:pPr>
            <a:r>
              <a:t>Why Software Delivery Is Still a Bottleneck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323232"/>
                </a:solidFill>
              </a:defRPr>
            </a:pPr>
            <a:r>
              <a:t>Most teams don't have a tooling problem — they have a delivery confidence problem.</a:t>
            </a:r>
          </a:p>
          <a:p>
            <a:pPr>
              <a:spcAft>
                <a:spcPts val="800"/>
              </a:spcAft>
              <a:defRPr sz="2000">
                <a:solidFill>
                  <a:srgbClr val="323232"/>
                </a:solidFill>
              </a:defRPr>
            </a:pPr>
          </a:p>
          <a:p>
            <a:pPr>
              <a:spcAft>
                <a:spcPts val="800"/>
              </a:spcAft>
              <a:defRPr sz="2000">
                <a:solidFill>
                  <a:srgbClr val="323232"/>
                </a:solidFill>
              </a:defRPr>
            </a:pPr>
            <a:r>
              <a:t>• Releases take days or weeks → Slower innovation</a:t>
            </a:r>
          </a:p>
          <a:p>
            <a:pPr>
              <a:spcAft>
                <a:spcPts val="800"/>
              </a:spcAft>
              <a:defRPr sz="2000">
                <a:solidFill>
                  <a:srgbClr val="323232"/>
                </a:solidFill>
              </a:defRPr>
            </a:pPr>
            <a:r>
              <a:t>• Script-driven deployments → Fragile processes</a:t>
            </a:r>
          </a:p>
          <a:p>
            <a:pPr>
              <a:spcAft>
                <a:spcPts val="800"/>
              </a:spcAft>
              <a:defRPr sz="2000">
                <a:solidFill>
                  <a:srgbClr val="323232"/>
                </a:solidFill>
              </a:defRPr>
            </a:pPr>
            <a:r>
              <a:t>• Limited visibility → Slow recovery</a:t>
            </a:r>
          </a:p>
          <a:p>
            <a:pPr>
              <a:spcAft>
                <a:spcPts val="800"/>
              </a:spcAft>
              <a:defRPr sz="2000">
                <a:solidFill>
                  <a:srgbClr val="323232"/>
                </a:solidFill>
              </a:defRPr>
            </a:pPr>
            <a:r>
              <a:t>• Too many tools → Operational overhead</a:t>
            </a:r>
          </a:p>
          <a:p>
            <a:pPr>
              <a:spcAft>
                <a:spcPts val="800"/>
              </a:spcAft>
              <a:defRPr sz="2000">
                <a:solidFill>
                  <a:srgbClr val="323232"/>
                </a:solidFill>
              </a:defRPr>
            </a:pPr>
            <a:r>
              <a:t>• Manual rollbacks → Higher outage risk</a:t>
            </a:r>
          </a:p>
          <a:p>
            <a:pPr>
              <a:spcAft>
                <a:spcPts val="800"/>
              </a:spcAft>
              <a:defRPr sz="2000">
                <a:solidFill>
                  <a:srgbClr val="323232"/>
                </a:solidFill>
              </a:defRPr>
            </a:pPr>
            <a:r>
              <a:t>• Manual audits → Compliance gaps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9682"/>
                </a:solidFill>
              </a:defRPr>
            </a:pPr>
            <a:r>
              <a:t>Harness: One Platform to Build, Deploy &amp; Operate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323232"/>
                </a:solidFill>
              </a:defRPr>
            </a:pPr>
            <a:r>
              <a:t>Harness replaces fragmented CI/CD tooling with a single, secure, Kubernetes-native platform.</a:t>
            </a:r>
          </a:p>
          <a:p>
            <a:pPr>
              <a:spcAft>
                <a:spcPts val="800"/>
              </a:spcAft>
              <a:defRPr sz="2000">
                <a:solidFill>
                  <a:srgbClr val="323232"/>
                </a:solidFill>
              </a:defRPr>
            </a:pPr>
          </a:p>
          <a:p>
            <a:pPr>
              <a:spcAft>
                <a:spcPts val="800"/>
              </a:spcAft>
              <a:defRPr sz="2000">
                <a:solidFill>
                  <a:srgbClr val="323232"/>
                </a:solidFill>
              </a:defRPr>
            </a:pPr>
            <a:r>
              <a:t>✓ Unified CI &amp; CD in a single platform</a:t>
            </a:r>
          </a:p>
          <a:p>
            <a:pPr>
              <a:spcAft>
                <a:spcPts val="800"/>
              </a:spcAft>
              <a:defRPr sz="2000">
                <a:solidFill>
                  <a:srgbClr val="323232"/>
                </a:solidFill>
              </a:defRPr>
            </a:pPr>
            <a:r>
              <a:t>✓ Built-in deployment strategies (Canary, Blue-Green, Rolling)</a:t>
            </a:r>
          </a:p>
          <a:p>
            <a:pPr>
              <a:spcAft>
                <a:spcPts val="800"/>
              </a:spcAft>
              <a:defRPr sz="2000">
                <a:solidFill>
                  <a:srgbClr val="323232"/>
                </a:solidFill>
              </a:defRPr>
            </a:pPr>
            <a:r>
              <a:t>✓ Delegate-based security model — credentials stay in your network</a:t>
            </a:r>
          </a:p>
          <a:p>
            <a:pPr>
              <a:spcAft>
                <a:spcPts val="800"/>
              </a:spcAft>
              <a:defRPr sz="2000">
                <a:solidFill>
                  <a:srgbClr val="323232"/>
                </a:solidFill>
              </a:defRPr>
            </a:pPr>
            <a:r>
              <a:t>✓ Templates &amp; reusability for enterprise scale</a:t>
            </a:r>
          </a:p>
          <a:p>
            <a:pPr>
              <a:spcAft>
                <a:spcPts val="800"/>
              </a:spcAft>
              <a:defRPr sz="2000">
                <a:solidFill>
                  <a:srgbClr val="323232"/>
                </a:solidFill>
              </a:defRPr>
            </a:pPr>
            <a:r>
              <a:t>✓ Governance and audit readiness built-in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9682"/>
                </a:solidFill>
              </a:defRPr>
            </a:pPr>
            <a:r>
              <a:t>Lab Demo: What I Built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12772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i="1">
                <a:solidFill>
                  <a:srgbClr val="646464"/>
                </a:solidFill>
              </a:defRPr>
            </a:pPr>
            <a:r>
              <a:t>End-to-end CI/CD implementation with enterprise-grade deployment strategy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80" y="1554480"/>
          <a:ext cx="1088136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40680"/>
                <a:gridCol w="5440680"/>
              </a:tblGrid>
              <a:tr h="457200"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Component</a:t>
                      </a:r>
                    </a:p>
                  </a:txBody>
                  <a:tcPr>
                    <a:solidFill>
                      <a:srgbClr val="00968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Implementation</a:t>
                      </a:r>
                    </a:p>
                  </a:txBody>
                  <a:tcPr>
                    <a:solidFill>
                      <a:srgbClr val="00968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Infrastructure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Amazon EKS cluster (2 nodes, us-east-1)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CI Pipeline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Build → Test → Push to DockerHub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CD Pipeline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Canary deployment to Kubernetes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Bonus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Reusable step template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9682"/>
                </a:solidFill>
              </a:defRPr>
            </a:pPr>
            <a:r>
              <a:t>Solution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323232"/>
                </a:solidFill>
              </a:defRPr>
            </a:pPr>
            <a:r>
              <a:t>GitHub  →  Harness CI  →  DockerHub  →  Harness CD  →  Amazon EKS</a:t>
            </a:r>
          </a:p>
          <a:p>
            <a:pPr>
              <a:spcAft>
                <a:spcPts val="800"/>
              </a:spcAft>
              <a:defRPr sz="2000">
                <a:solidFill>
                  <a:srgbClr val="323232"/>
                </a:solidFill>
              </a:defRPr>
            </a:pPr>
          </a:p>
          <a:p>
            <a:pPr>
              <a:spcAft>
                <a:spcPts val="800"/>
              </a:spcAft>
              <a:defRPr sz="2000">
                <a:solidFill>
                  <a:srgbClr val="323232"/>
                </a:solidFill>
              </a:defRPr>
            </a:pPr>
            <a:r>
              <a:t>Key Components:</a:t>
            </a:r>
          </a:p>
          <a:p>
            <a:pPr>
              <a:spcAft>
                <a:spcPts val="800"/>
              </a:spcAft>
              <a:defRPr sz="2000">
                <a:solidFill>
                  <a:srgbClr val="323232"/>
                </a:solidFill>
              </a:defRPr>
            </a:pPr>
            <a:r>
              <a:t>• Harness Delegate runs INSIDE the EKS cluster</a:t>
            </a:r>
          </a:p>
          <a:p>
            <a:pPr>
              <a:spcAft>
                <a:spcPts val="800"/>
              </a:spcAft>
              <a:defRPr sz="2000">
                <a:solidFill>
                  <a:srgbClr val="323232"/>
                </a:solidFill>
              </a:defRPr>
            </a:pPr>
            <a:r>
              <a:t>• Outbound-only connections (enterprise security)</a:t>
            </a:r>
          </a:p>
          <a:p>
            <a:pPr>
              <a:spcAft>
                <a:spcPts val="800"/>
              </a:spcAft>
              <a:defRPr sz="2000">
                <a:solidFill>
                  <a:srgbClr val="323232"/>
                </a:solidFill>
              </a:defRPr>
            </a:pPr>
            <a:r>
              <a:t>• Credentials never leave the customer's network</a:t>
            </a:r>
          </a:p>
          <a:p>
            <a:pPr>
              <a:spcAft>
                <a:spcPts val="800"/>
              </a:spcAft>
              <a:defRPr sz="2000">
                <a:solidFill>
                  <a:srgbClr val="323232"/>
                </a:solidFill>
              </a:defRPr>
            </a:pPr>
            <a:r>
              <a:t>• Single platform for CI + CD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9682"/>
                </a:solidFill>
              </a:defRPr>
            </a:pPr>
            <a:r>
              <a:t>Connectors — Configure Once, Use Everywhere</a:t>
            </a:r>
          </a:p>
        </p:txBody>
      </p:sp>
      <p:pic>
        <p:nvPicPr>
          <p:cNvPr id="3" name="Picture 2" descr="connecto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05840"/>
            <a:ext cx="11247120" cy="536682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9682"/>
                </a:solidFill>
              </a:defRPr>
            </a:pPr>
            <a:r>
              <a:t>CI/CD Pipeline — Visual + YAML</a:t>
            </a:r>
          </a:p>
        </p:txBody>
      </p:sp>
      <p:pic>
        <p:nvPicPr>
          <p:cNvPr id="3" name="Picture 2" descr="pipeline-visu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05840"/>
            <a:ext cx="11247120" cy="6110056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9682"/>
                </a:solidFill>
              </a:defRPr>
            </a:pPr>
            <a:r>
              <a:t>Canary Deployment — Ship with Confidence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640080" y="1280160"/>
          <a:ext cx="1088136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40680"/>
                <a:gridCol w="5440680"/>
              </a:tblGrid>
              <a:tr h="457200"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Traditional Deploy</a:t>
                      </a:r>
                    </a:p>
                  </a:txBody>
                  <a:tcPr>
                    <a:solidFill>
                      <a:srgbClr val="00968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Canary Deploy (Harness)</a:t>
                      </a:r>
                    </a:p>
                  </a:txBody>
                  <a:tcPr>
                    <a:solidFill>
                      <a:srgbClr val="00968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Deploy to all pods at once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Deploy to 1 pod first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100% blast radius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Minimal blast radius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Manual rollback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Automatic rollback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High risk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Low risk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640080" y="4114800"/>
            <a:ext cx="100584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/>
            </a:pPr>
            <a:r>
              <a:t>Flow: Canary (1 pod) → Validate Health → Full Rollout</a:t>
            </a:r>
          </a:p>
          <a:p>
            <a:pPr>
              <a:defRPr sz="1600">
                <a:solidFill>
                  <a:srgbClr val="C85050"/>
                </a:solidFill>
              </a:defRPr>
            </a:pPr>
            <a:r>
              <a:t>On Failure → Automatic Rollback</a:t>
            </a:r>
          </a:p>
          <a:p>
            <a:pPr>
              <a:defRPr sz="1400" i="1">
                <a:solidFill>
                  <a:srgbClr val="646464"/>
                </a:solidFill>
              </a:defRPr>
            </a:pPr>
            <a:r>
              <a:t>Used by Netflix, Google, and Amazon for production deployments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9682"/>
                </a:solidFill>
              </a:defRPr>
            </a:pPr>
            <a:r>
              <a:t>Pipeline Execution — Success</a:t>
            </a:r>
          </a:p>
        </p:txBody>
      </p:sp>
      <p:pic>
        <p:nvPicPr>
          <p:cNvPr id="3" name="Picture 2" descr="pipeline-executio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05840"/>
            <a:ext cx="11247120" cy="5341324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9682"/>
                </a:solidFill>
              </a:defRPr>
            </a:pPr>
            <a:r>
              <a:t>Live Application — Deployed &amp; Running</a:t>
            </a:r>
          </a:p>
        </p:txBody>
      </p:sp>
      <p:pic>
        <p:nvPicPr>
          <p:cNvPr id="3" name="Picture 2" descr="live-app-respon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88720"/>
            <a:ext cx="11247120" cy="378979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029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009682"/>
                </a:solidFill>
              </a:defRPr>
            </a:pPr>
            <a:r>
              <a:t>Live URL: http://af8ff179d9b434e3896b72ce0a902e3d-613870465.us-east-1.elb.amazonaws.com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9682"/>
                </a:solidFill>
              </a:defRPr>
            </a:pPr>
            <a:r>
              <a:t>Templates — Build Once, Reuse Everywhere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323232"/>
                </a:solidFill>
              </a:defRPr>
            </a:pPr>
            <a:r>
              <a:t>Created: nodejs-test-template</a:t>
            </a:r>
          </a:p>
          <a:p>
            <a:pPr>
              <a:spcAft>
                <a:spcPts val="800"/>
              </a:spcAft>
              <a:defRPr sz="2000">
                <a:solidFill>
                  <a:srgbClr val="323232"/>
                </a:solidFill>
              </a:defRPr>
            </a:pPr>
          </a:p>
          <a:p>
            <a:pPr>
              <a:spcAft>
                <a:spcPts val="800"/>
              </a:spcAft>
              <a:defRPr sz="2000">
                <a:solidFill>
                  <a:srgbClr val="323232"/>
                </a:solidFill>
              </a:defRPr>
            </a:pPr>
            <a:r>
              <a:t>Template Config:</a:t>
            </a:r>
          </a:p>
          <a:p>
            <a:pPr>
              <a:spcAft>
                <a:spcPts val="800"/>
              </a:spcAft>
              <a:defRPr sz="2000">
                <a:solidFill>
                  <a:srgbClr val="323232"/>
                </a:solidFill>
              </a:defRPr>
            </a:pPr>
            <a:r>
              <a:t>   • Image: node:18</a:t>
            </a:r>
          </a:p>
          <a:p>
            <a:pPr>
              <a:spcAft>
                <a:spcPts val="800"/>
              </a:spcAft>
              <a:defRPr sz="2000">
                <a:solidFill>
                  <a:srgbClr val="323232"/>
                </a:solidFill>
              </a:defRPr>
            </a:pPr>
            <a:r>
              <a:t>   • Command: npm install &amp;&amp; npm test</a:t>
            </a:r>
          </a:p>
          <a:p>
            <a:pPr>
              <a:spcAft>
                <a:spcPts val="800"/>
              </a:spcAft>
              <a:defRPr sz="2000">
                <a:solidFill>
                  <a:srgbClr val="323232"/>
                </a:solidFill>
              </a:defRPr>
            </a:pPr>
          </a:p>
          <a:p>
            <a:pPr>
              <a:spcAft>
                <a:spcPts val="800"/>
              </a:spcAft>
              <a:defRPr sz="2000">
                <a:solidFill>
                  <a:srgbClr val="323232"/>
                </a:solidFill>
              </a:defRPr>
            </a:pPr>
            <a:r>
              <a:t>Enterprise Value:</a:t>
            </a:r>
          </a:p>
          <a:p>
            <a:pPr>
              <a:spcAft>
                <a:spcPts val="800"/>
              </a:spcAft>
              <a:defRPr sz="2000">
                <a:solidFill>
                  <a:srgbClr val="323232"/>
                </a:solidFill>
              </a:defRPr>
            </a:pPr>
            <a:r>
              <a:t>   ✓ Reusability — Use in any pipeline with one click</a:t>
            </a:r>
          </a:p>
          <a:p>
            <a:pPr>
              <a:spcAft>
                <a:spcPts val="800"/>
              </a:spcAft>
              <a:defRPr sz="2000">
                <a:solidFill>
                  <a:srgbClr val="323232"/>
                </a:solidFill>
              </a:defRPr>
            </a:pPr>
            <a:r>
              <a:t>   ✓ Standardization — Consistent testing across teams</a:t>
            </a:r>
          </a:p>
          <a:p>
            <a:pPr>
              <a:spcAft>
                <a:spcPts val="800"/>
              </a:spcAft>
              <a:defRPr sz="2000">
                <a:solidFill>
                  <a:srgbClr val="323232"/>
                </a:solidFill>
              </a:defRPr>
            </a:pPr>
            <a:r>
              <a:t>   ✓ Maintainability — Update once, applies everywhere</a:t>
            </a:r>
          </a:p>
          <a:p>
            <a:pPr>
              <a:spcAft>
                <a:spcPts val="800"/>
              </a:spcAft>
              <a:defRPr sz="2000">
                <a:solidFill>
                  <a:srgbClr val="323232"/>
                </a:solidFill>
              </a:defRPr>
            </a:pPr>
            <a:r>
              <a:t>   ✓ Governance — Platform team control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9682"/>
                </a:solidFill>
              </a:defRPr>
            </a:pPr>
            <a:r>
              <a:t>Lab Summary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640080" y="1280160"/>
          <a:ext cx="1088136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40680"/>
                <a:gridCol w="5440680"/>
              </a:tblGrid>
              <a:tr h="457200"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Task</a:t>
                      </a:r>
                    </a:p>
                  </a:txBody>
                  <a:tcPr>
                    <a:solidFill>
                      <a:srgbClr val="00968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Status</a:t>
                      </a:r>
                    </a:p>
                  </a:txBody>
                  <a:tcPr>
                    <a:solidFill>
                      <a:srgbClr val="00968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Kubernetes Cluster (EKS)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✓ Complete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Harness Delegate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✓ Complete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CI Pipeline (Build, Test, Push)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✓ Complete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CD Pipeline (Canary)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✓ Complete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Templates (Bonus)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✓ Complete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640080" y="4572000"/>
            <a:ext cx="100584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/>
            </a:pPr>
            <a:r>
              <a:t>Resources:</a:t>
            </a:r>
          </a:p>
          <a:p>
            <a:pPr>
              <a:defRPr sz="1400"/>
            </a:pPr>
            <a:r>
              <a:t>• GitHub: github.com/aashime/harness-ci-lab</a:t>
            </a:r>
          </a:p>
          <a:p>
            <a:pPr>
              <a:defRPr sz="1400"/>
            </a:pPr>
            <a:r>
              <a:t>• DockerHub: hub.docker.com/r/aashime/harness-ci-lab</a:t>
            </a:r>
          </a:p>
          <a:p>
            <a:pPr>
              <a:defRPr sz="1400"/>
            </a:pPr>
            <a:r>
              <a:t>• Full Documentation: LAB_SUBMISSION.md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0"/>
            <a:ext cx="112772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009682"/>
                </a:solidFill>
              </a:defRPr>
            </a:pPr>
            <a:r>
              <a:t>Thank You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38328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>
                <a:solidFill>
                  <a:srgbClr val="646464"/>
                </a:solidFill>
              </a:defRPr>
            </a:pPr>
            <a:r>
              <a:t>Questions?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29768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505050"/>
                </a:solidFill>
              </a:defRPr>
            </a:pPr>
            <a:r>
              <a:t>Ashime | github.com/aashime/harness-ci-lab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